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9" r:id="rId3"/>
    <p:sldId id="271" r:id="rId4"/>
    <p:sldId id="272" r:id="rId5"/>
    <p:sldId id="270" r:id="rId6"/>
    <p:sldId id="260" r:id="rId7"/>
    <p:sldId id="256" r:id="rId8"/>
    <p:sldId id="344" r:id="rId9"/>
    <p:sldId id="353" r:id="rId10"/>
    <p:sldId id="331" r:id="rId11"/>
    <p:sldId id="332" r:id="rId12"/>
    <p:sldId id="334" r:id="rId13"/>
    <p:sldId id="354" r:id="rId14"/>
    <p:sldId id="333" r:id="rId15"/>
    <p:sldId id="355" r:id="rId16"/>
    <p:sldId id="356" r:id="rId17"/>
    <p:sldId id="357" r:id="rId18"/>
    <p:sldId id="335" r:id="rId19"/>
    <p:sldId id="264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261" r:id="rId35"/>
  </p:sldIdLst>
  <p:sldSz cx="9144000" cy="6858000" type="screen4x3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A41E5C-60AD-4EAA-A3C7-9D89E41E71EC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E4AB1D77-3F99-4D7F-ACE2-FC08DC3EBB03}">
      <dgm:prSet phldrT="[Texto]"/>
      <dgm:spPr/>
      <dgm:t>
        <a:bodyPr/>
        <a:lstStyle/>
        <a:p>
          <a:r>
            <a:rPr lang="es-CL" b="0" i="0" dirty="0" smtClean="0"/>
            <a:t>120 mil los negocios de barrio que se contabilizan</a:t>
          </a:r>
          <a:endParaRPr lang="es-CL" dirty="0"/>
        </a:p>
      </dgm:t>
    </dgm:pt>
    <dgm:pt modelId="{2B88266F-5C17-4EB3-9234-2DD4F81C5F05}" type="parTrans" cxnId="{8B98F743-2FC4-455F-946C-53139F511BA1}">
      <dgm:prSet/>
      <dgm:spPr/>
      <dgm:t>
        <a:bodyPr/>
        <a:lstStyle/>
        <a:p>
          <a:endParaRPr lang="es-CL"/>
        </a:p>
      </dgm:t>
    </dgm:pt>
    <dgm:pt modelId="{F071AFC4-1F8F-4D0A-BABC-12B96C800FAC}" type="sibTrans" cxnId="{8B98F743-2FC4-455F-946C-53139F511BA1}">
      <dgm:prSet/>
      <dgm:spPr/>
      <dgm:t>
        <a:bodyPr/>
        <a:lstStyle/>
        <a:p>
          <a:endParaRPr lang="es-CL"/>
        </a:p>
      </dgm:t>
    </dgm:pt>
    <dgm:pt modelId="{4C3DFA9E-D527-4BBC-8861-9A9C6D8CB6FA}">
      <dgm:prSet phldrT="[Texto]"/>
      <dgm:spPr/>
      <dgm:t>
        <a:bodyPr/>
        <a:lstStyle/>
        <a:p>
          <a:r>
            <a:rPr lang="es-CL" b="0" i="0" dirty="0" smtClean="0"/>
            <a:t>Los chilenos visitan en promedio 33 veces al mes los locales de barrio</a:t>
          </a:r>
          <a:endParaRPr lang="es-CL" dirty="0"/>
        </a:p>
      </dgm:t>
    </dgm:pt>
    <dgm:pt modelId="{95C89551-833F-424D-A2EF-9B9B791CDA6E}" type="parTrans" cxnId="{2BF941A5-D0D8-475D-9DBF-EACFABAA17F4}">
      <dgm:prSet/>
      <dgm:spPr/>
      <dgm:t>
        <a:bodyPr/>
        <a:lstStyle/>
        <a:p>
          <a:endParaRPr lang="es-CL"/>
        </a:p>
      </dgm:t>
    </dgm:pt>
    <dgm:pt modelId="{0FC7584F-6F9A-4E2D-9149-6EA14E405F63}" type="sibTrans" cxnId="{2BF941A5-D0D8-475D-9DBF-EACFABAA17F4}">
      <dgm:prSet/>
      <dgm:spPr/>
      <dgm:t>
        <a:bodyPr/>
        <a:lstStyle/>
        <a:p>
          <a:endParaRPr lang="es-CL"/>
        </a:p>
      </dgm:t>
    </dgm:pt>
    <dgm:pt modelId="{1548BDB4-785A-48C1-8C2F-8FC501797710}">
      <dgm:prSet phldrT="[Texto]"/>
      <dgm:spPr/>
      <dgm:t>
        <a:bodyPr/>
        <a:lstStyle/>
        <a:p>
          <a:r>
            <a:rPr lang="es-CL" b="0" i="0" dirty="0" smtClean="0"/>
            <a:t>63,4% de la población opta por comprar en estos negocios más pequeños</a:t>
          </a:r>
          <a:endParaRPr lang="es-CL" dirty="0"/>
        </a:p>
      </dgm:t>
    </dgm:pt>
    <dgm:pt modelId="{ADF46994-B08C-4A67-84FE-249B43FC6211}" type="parTrans" cxnId="{76C72A86-EF4A-4C42-8FB0-6909AE86BB32}">
      <dgm:prSet/>
      <dgm:spPr/>
      <dgm:t>
        <a:bodyPr/>
        <a:lstStyle/>
        <a:p>
          <a:endParaRPr lang="es-CL"/>
        </a:p>
      </dgm:t>
    </dgm:pt>
    <dgm:pt modelId="{4E351BF2-D23A-41D6-A576-67E2A37F4C74}" type="sibTrans" cxnId="{76C72A86-EF4A-4C42-8FB0-6909AE86BB32}">
      <dgm:prSet/>
      <dgm:spPr/>
      <dgm:t>
        <a:bodyPr/>
        <a:lstStyle/>
        <a:p>
          <a:endParaRPr lang="es-CL"/>
        </a:p>
      </dgm:t>
    </dgm:pt>
    <dgm:pt modelId="{322A7474-A3FD-4B90-8E53-E00F5C1249DE}">
      <dgm:prSet/>
      <dgm:spPr/>
      <dgm:t>
        <a:bodyPr/>
        <a:lstStyle/>
        <a:p>
          <a:r>
            <a:rPr lang="es-CL" b="0" i="0" dirty="0" smtClean="0"/>
            <a:t>“Un servicio a la medida”</a:t>
          </a:r>
          <a:endParaRPr lang="es-CL" dirty="0"/>
        </a:p>
      </dgm:t>
    </dgm:pt>
    <dgm:pt modelId="{2ACE7D4C-0E01-4B65-8A2B-BDD9CD755C4F}" type="parTrans" cxnId="{F674D959-13DB-4E4A-8BBC-CC87D63946FB}">
      <dgm:prSet/>
      <dgm:spPr/>
      <dgm:t>
        <a:bodyPr/>
        <a:lstStyle/>
        <a:p>
          <a:endParaRPr lang="es-CL"/>
        </a:p>
      </dgm:t>
    </dgm:pt>
    <dgm:pt modelId="{CE07E766-B0A0-46FA-9594-12450A4B3135}" type="sibTrans" cxnId="{F674D959-13DB-4E4A-8BBC-CC87D63946FB}">
      <dgm:prSet/>
      <dgm:spPr/>
      <dgm:t>
        <a:bodyPr/>
        <a:lstStyle/>
        <a:p>
          <a:endParaRPr lang="es-CL"/>
        </a:p>
      </dgm:t>
    </dgm:pt>
    <dgm:pt modelId="{E1DF3F63-D061-42B1-9950-27527C6D48AA}" type="pres">
      <dgm:prSet presAssocID="{EAA41E5C-60AD-4EAA-A3C7-9D89E41E71EC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s-CL"/>
        </a:p>
      </dgm:t>
    </dgm:pt>
    <dgm:pt modelId="{791F4745-CCA9-4340-AA23-9199A8EA708F}" type="pres">
      <dgm:prSet presAssocID="{E4AB1D77-3F99-4D7F-ACE2-FC08DC3EBB03}" presName="circle1" presStyleLbl="lnNode1" presStyleIdx="0" presStyleCnt="4"/>
      <dgm:spPr/>
    </dgm:pt>
    <dgm:pt modelId="{2BBC2CC9-6F51-4073-8EFC-EED32B3D37CE}" type="pres">
      <dgm:prSet presAssocID="{E4AB1D77-3F99-4D7F-ACE2-FC08DC3EBB03}" presName="text1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1D7A0CF1-F82F-4412-B3B7-4DB58AB64776}" type="pres">
      <dgm:prSet presAssocID="{E4AB1D77-3F99-4D7F-ACE2-FC08DC3EBB03}" presName="line1" presStyleLbl="callout" presStyleIdx="0" presStyleCnt="8"/>
      <dgm:spPr/>
    </dgm:pt>
    <dgm:pt modelId="{15EE73D3-970E-47D2-916A-86884474651F}" type="pres">
      <dgm:prSet presAssocID="{E4AB1D77-3F99-4D7F-ACE2-FC08DC3EBB03}" presName="d1" presStyleLbl="callout" presStyleIdx="1" presStyleCnt="8"/>
      <dgm:spPr/>
    </dgm:pt>
    <dgm:pt modelId="{6ACBCD89-96CC-4B70-A6C7-B459982609C6}" type="pres">
      <dgm:prSet presAssocID="{4C3DFA9E-D527-4BBC-8861-9A9C6D8CB6FA}" presName="circle2" presStyleLbl="lnNode1" presStyleIdx="1" presStyleCnt="4"/>
      <dgm:spPr/>
    </dgm:pt>
    <dgm:pt modelId="{62E6256D-7F96-40BE-AA50-4A5483F19817}" type="pres">
      <dgm:prSet presAssocID="{4C3DFA9E-D527-4BBC-8861-9A9C6D8CB6FA}" presName="text2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0BFE430A-3CAF-4335-BEC6-82BE443E0767}" type="pres">
      <dgm:prSet presAssocID="{4C3DFA9E-D527-4BBC-8861-9A9C6D8CB6FA}" presName="line2" presStyleLbl="callout" presStyleIdx="2" presStyleCnt="8"/>
      <dgm:spPr/>
    </dgm:pt>
    <dgm:pt modelId="{751817D8-84BF-49B1-A5EC-0D63AF332275}" type="pres">
      <dgm:prSet presAssocID="{4C3DFA9E-D527-4BBC-8861-9A9C6D8CB6FA}" presName="d2" presStyleLbl="callout" presStyleIdx="3" presStyleCnt="8"/>
      <dgm:spPr/>
    </dgm:pt>
    <dgm:pt modelId="{555144B9-FE94-46EA-B6C8-77285630CF70}" type="pres">
      <dgm:prSet presAssocID="{1548BDB4-785A-48C1-8C2F-8FC501797710}" presName="circle3" presStyleLbl="lnNode1" presStyleIdx="2" presStyleCnt="4"/>
      <dgm:spPr>
        <a:solidFill>
          <a:srgbClr val="FFC000"/>
        </a:solidFill>
      </dgm:spPr>
    </dgm:pt>
    <dgm:pt modelId="{E194F271-762D-4508-9C34-ED67111DB554}" type="pres">
      <dgm:prSet presAssocID="{1548BDB4-785A-48C1-8C2F-8FC501797710}" presName="text3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68E5BF30-0DA8-49D2-88DB-D666F8E8573B}" type="pres">
      <dgm:prSet presAssocID="{1548BDB4-785A-48C1-8C2F-8FC501797710}" presName="line3" presStyleLbl="callout" presStyleIdx="4" presStyleCnt="8"/>
      <dgm:spPr/>
    </dgm:pt>
    <dgm:pt modelId="{39DB101E-AB4C-4D37-B365-2A05673D9A1E}" type="pres">
      <dgm:prSet presAssocID="{1548BDB4-785A-48C1-8C2F-8FC501797710}" presName="d3" presStyleLbl="callout" presStyleIdx="5" presStyleCnt="8"/>
      <dgm:spPr/>
    </dgm:pt>
    <dgm:pt modelId="{D041B030-AC36-4690-9EDE-4870E2F64288}" type="pres">
      <dgm:prSet presAssocID="{322A7474-A3FD-4B90-8E53-E00F5C1249DE}" presName="circle4" presStyleLbl="lnNode1" presStyleIdx="3" presStyleCnt="4"/>
      <dgm:spPr/>
    </dgm:pt>
    <dgm:pt modelId="{415142A4-87E8-4082-AB0F-65B4EEE4C734}" type="pres">
      <dgm:prSet presAssocID="{322A7474-A3FD-4B90-8E53-E00F5C1249DE}" presName="text4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  <dgm:pt modelId="{BCA7DA3B-5539-4F2B-A9C1-76EBFFF8D87C}" type="pres">
      <dgm:prSet presAssocID="{322A7474-A3FD-4B90-8E53-E00F5C1249DE}" presName="line4" presStyleLbl="callout" presStyleIdx="6" presStyleCnt="8"/>
      <dgm:spPr/>
    </dgm:pt>
    <dgm:pt modelId="{C4773D33-D598-49BB-98F8-A5E0BC134910}" type="pres">
      <dgm:prSet presAssocID="{322A7474-A3FD-4B90-8E53-E00F5C1249DE}" presName="d4" presStyleLbl="callout" presStyleIdx="7" presStyleCnt="8"/>
      <dgm:spPr/>
    </dgm:pt>
  </dgm:ptLst>
  <dgm:cxnLst>
    <dgm:cxn modelId="{F674D959-13DB-4E4A-8BBC-CC87D63946FB}" srcId="{EAA41E5C-60AD-4EAA-A3C7-9D89E41E71EC}" destId="{322A7474-A3FD-4B90-8E53-E00F5C1249DE}" srcOrd="3" destOrd="0" parTransId="{2ACE7D4C-0E01-4B65-8A2B-BDD9CD755C4F}" sibTransId="{CE07E766-B0A0-46FA-9594-12450A4B3135}"/>
    <dgm:cxn modelId="{9B929C6D-60BD-4FAC-9B2D-C7EE4932B50D}" type="presOf" srcId="{4C3DFA9E-D527-4BBC-8861-9A9C6D8CB6FA}" destId="{62E6256D-7F96-40BE-AA50-4A5483F19817}" srcOrd="0" destOrd="0" presId="urn:microsoft.com/office/officeart/2005/8/layout/target1"/>
    <dgm:cxn modelId="{982BD53B-AEC4-4A1B-ABDC-11A8B0FF29F4}" type="presOf" srcId="{E4AB1D77-3F99-4D7F-ACE2-FC08DC3EBB03}" destId="{2BBC2CC9-6F51-4073-8EFC-EED32B3D37CE}" srcOrd="0" destOrd="0" presId="urn:microsoft.com/office/officeart/2005/8/layout/target1"/>
    <dgm:cxn modelId="{7FCC61BD-D30C-4FF5-9764-9DE69C7ED9A1}" type="presOf" srcId="{EAA41E5C-60AD-4EAA-A3C7-9D89E41E71EC}" destId="{E1DF3F63-D061-42B1-9950-27527C6D48AA}" srcOrd="0" destOrd="0" presId="urn:microsoft.com/office/officeart/2005/8/layout/target1"/>
    <dgm:cxn modelId="{8109CC27-9BE3-4A37-9086-C53D1A59CD82}" type="presOf" srcId="{1548BDB4-785A-48C1-8C2F-8FC501797710}" destId="{E194F271-762D-4508-9C34-ED67111DB554}" srcOrd="0" destOrd="0" presId="urn:microsoft.com/office/officeart/2005/8/layout/target1"/>
    <dgm:cxn modelId="{8B98F743-2FC4-455F-946C-53139F511BA1}" srcId="{EAA41E5C-60AD-4EAA-A3C7-9D89E41E71EC}" destId="{E4AB1D77-3F99-4D7F-ACE2-FC08DC3EBB03}" srcOrd="0" destOrd="0" parTransId="{2B88266F-5C17-4EB3-9234-2DD4F81C5F05}" sibTransId="{F071AFC4-1F8F-4D0A-BABC-12B96C800FAC}"/>
    <dgm:cxn modelId="{00568C50-802C-4771-901A-6A6813AC6A2E}" type="presOf" srcId="{322A7474-A3FD-4B90-8E53-E00F5C1249DE}" destId="{415142A4-87E8-4082-AB0F-65B4EEE4C734}" srcOrd="0" destOrd="0" presId="urn:microsoft.com/office/officeart/2005/8/layout/target1"/>
    <dgm:cxn modelId="{76C72A86-EF4A-4C42-8FB0-6909AE86BB32}" srcId="{EAA41E5C-60AD-4EAA-A3C7-9D89E41E71EC}" destId="{1548BDB4-785A-48C1-8C2F-8FC501797710}" srcOrd="2" destOrd="0" parTransId="{ADF46994-B08C-4A67-84FE-249B43FC6211}" sibTransId="{4E351BF2-D23A-41D6-A576-67E2A37F4C74}"/>
    <dgm:cxn modelId="{2BF941A5-D0D8-475D-9DBF-EACFABAA17F4}" srcId="{EAA41E5C-60AD-4EAA-A3C7-9D89E41E71EC}" destId="{4C3DFA9E-D527-4BBC-8861-9A9C6D8CB6FA}" srcOrd="1" destOrd="0" parTransId="{95C89551-833F-424D-A2EF-9B9B791CDA6E}" sibTransId="{0FC7584F-6F9A-4E2D-9149-6EA14E405F63}"/>
    <dgm:cxn modelId="{7CF7D6B6-6E46-4DBB-ACAF-7C52CE5E88F6}" type="presParOf" srcId="{E1DF3F63-D061-42B1-9950-27527C6D48AA}" destId="{791F4745-CCA9-4340-AA23-9199A8EA708F}" srcOrd="0" destOrd="0" presId="urn:microsoft.com/office/officeart/2005/8/layout/target1"/>
    <dgm:cxn modelId="{362302C3-E3AD-420E-BF28-1A6CE0277098}" type="presParOf" srcId="{E1DF3F63-D061-42B1-9950-27527C6D48AA}" destId="{2BBC2CC9-6F51-4073-8EFC-EED32B3D37CE}" srcOrd="1" destOrd="0" presId="urn:microsoft.com/office/officeart/2005/8/layout/target1"/>
    <dgm:cxn modelId="{A8F50BC5-71E9-43AA-8DF7-CCEFC1AD3457}" type="presParOf" srcId="{E1DF3F63-D061-42B1-9950-27527C6D48AA}" destId="{1D7A0CF1-F82F-4412-B3B7-4DB58AB64776}" srcOrd="2" destOrd="0" presId="urn:microsoft.com/office/officeart/2005/8/layout/target1"/>
    <dgm:cxn modelId="{9B8036A7-32F1-464B-8B6F-78A8E1776C05}" type="presParOf" srcId="{E1DF3F63-D061-42B1-9950-27527C6D48AA}" destId="{15EE73D3-970E-47D2-916A-86884474651F}" srcOrd="3" destOrd="0" presId="urn:microsoft.com/office/officeart/2005/8/layout/target1"/>
    <dgm:cxn modelId="{7A9A0B9C-470C-496F-99DE-E754ECA0E51B}" type="presParOf" srcId="{E1DF3F63-D061-42B1-9950-27527C6D48AA}" destId="{6ACBCD89-96CC-4B70-A6C7-B459982609C6}" srcOrd="4" destOrd="0" presId="urn:microsoft.com/office/officeart/2005/8/layout/target1"/>
    <dgm:cxn modelId="{92665509-E8F4-4903-B69C-F75B4C36E092}" type="presParOf" srcId="{E1DF3F63-D061-42B1-9950-27527C6D48AA}" destId="{62E6256D-7F96-40BE-AA50-4A5483F19817}" srcOrd="5" destOrd="0" presId="urn:microsoft.com/office/officeart/2005/8/layout/target1"/>
    <dgm:cxn modelId="{45030699-B520-4593-AD9F-B138BD45A9FE}" type="presParOf" srcId="{E1DF3F63-D061-42B1-9950-27527C6D48AA}" destId="{0BFE430A-3CAF-4335-BEC6-82BE443E0767}" srcOrd="6" destOrd="0" presId="urn:microsoft.com/office/officeart/2005/8/layout/target1"/>
    <dgm:cxn modelId="{B084A528-BF39-44D6-9348-5AAE5090F726}" type="presParOf" srcId="{E1DF3F63-D061-42B1-9950-27527C6D48AA}" destId="{751817D8-84BF-49B1-A5EC-0D63AF332275}" srcOrd="7" destOrd="0" presId="urn:microsoft.com/office/officeart/2005/8/layout/target1"/>
    <dgm:cxn modelId="{E3563E65-9114-46EC-B0C8-60D91C885481}" type="presParOf" srcId="{E1DF3F63-D061-42B1-9950-27527C6D48AA}" destId="{555144B9-FE94-46EA-B6C8-77285630CF70}" srcOrd="8" destOrd="0" presId="urn:microsoft.com/office/officeart/2005/8/layout/target1"/>
    <dgm:cxn modelId="{5E0430A2-DA89-4D2F-B436-6951FE4956E0}" type="presParOf" srcId="{E1DF3F63-D061-42B1-9950-27527C6D48AA}" destId="{E194F271-762D-4508-9C34-ED67111DB554}" srcOrd="9" destOrd="0" presId="urn:microsoft.com/office/officeart/2005/8/layout/target1"/>
    <dgm:cxn modelId="{9612B012-BE84-441E-8679-C36CD85393EE}" type="presParOf" srcId="{E1DF3F63-D061-42B1-9950-27527C6D48AA}" destId="{68E5BF30-0DA8-49D2-88DB-D666F8E8573B}" srcOrd="10" destOrd="0" presId="urn:microsoft.com/office/officeart/2005/8/layout/target1"/>
    <dgm:cxn modelId="{82EE6FDC-F085-4D35-9D64-3ECDBD23071C}" type="presParOf" srcId="{E1DF3F63-D061-42B1-9950-27527C6D48AA}" destId="{39DB101E-AB4C-4D37-B365-2A05673D9A1E}" srcOrd="11" destOrd="0" presId="urn:microsoft.com/office/officeart/2005/8/layout/target1"/>
    <dgm:cxn modelId="{5A1B38DF-6503-4D99-A635-8F85F3C746D2}" type="presParOf" srcId="{E1DF3F63-D061-42B1-9950-27527C6D48AA}" destId="{D041B030-AC36-4690-9EDE-4870E2F64288}" srcOrd="12" destOrd="0" presId="urn:microsoft.com/office/officeart/2005/8/layout/target1"/>
    <dgm:cxn modelId="{1A3413A2-C62A-4658-89C8-D24763EB4971}" type="presParOf" srcId="{E1DF3F63-D061-42B1-9950-27527C6D48AA}" destId="{415142A4-87E8-4082-AB0F-65B4EEE4C734}" srcOrd="13" destOrd="0" presId="urn:microsoft.com/office/officeart/2005/8/layout/target1"/>
    <dgm:cxn modelId="{41624FD6-EC1B-4139-88ED-6A5B56D122F4}" type="presParOf" srcId="{E1DF3F63-D061-42B1-9950-27527C6D48AA}" destId="{BCA7DA3B-5539-4F2B-A9C1-76EBFFF8D87C}" srcOrd="14" destOrd="0" presId="urn:microsoft.com/office/officeart/2005/8/layout/target1"/>
    <dgm:cxn modelId="{776B5C17-16B1-49EF-9FF3-731380245480}" type="presParOf" srcId="{E1DF3F63-D061-42B1-9950-27527C6D48AA}" destId="{C4773D33-D598-49BB-98F8-A5E0BC134910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322250-D88A-49FE-A9B7-0A2B2B321B4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85408BC5-FDBC-4015-A50E-04BA1CDA36E7}">
      <dgm:prSet/>
      <dgm:spPr/>
      <dgm:t>
        <a:bodyPr/>
        <a:lstStyle/>
        <a:p>
          <a:r>
            <a:rPr lang="es-CL" b="0" i="0" dirty="0" smtClean="0"/>
            <a:t>El Flujo de Caja es un informe financiero que presenta un detalle de </a:t>
          </a:r>
          <a:r>
            <a:rPr lang="es-CL" b="1" i="0" dirty="0" smtClean="0"/>
            <a:t>los flujos de ingresos y egresos de dinero</a:t>
          </a:r>
          <a:r>
            <a:rPr lang="es-CL" b="0" i="0" dirty="0" smtClean="0"/>
            <a:t> que tiene su almacén en un período dado</a:t>
          </a:r>
          <a:endParaRPr lang="es-CL" dirty="0"/>
        </a:p>
      </dgm:t>
    </dgm:pt>
    <dgm:pt modelId="{332A2BB0-4595-4F95-BB8F-C39EE50190A3}" type="parTrans" cxnId="{0B6833A6-58FE-4B6B-82C3-4CC8FB00A014}">
      <dgm:prSet/>
      <dgm:spPr/>
      <dgm:t>
        <a:bodyPr/>
        <a:lstStyle/>
        <a:p>
          <a:endParaRPr lang="es-CL"/>
        </a:p>
      </dgm:t>
    </dgm:pt>
    <dgm:pt modelId="{1FC78C8F-271E-4FA9-8BED-CC58B84C07A0}" type="sibTrans" cxnId="{0B6833A6-58FE-4B6B-82C3-4CC8FB00A014}">
      <dgm:prSet/>
      <dgm:spPr/>
      <dgm:t>
        <a:bodyPr/>
        <a:lstStyle/>
        <a:p>
          <a:endParaRPr lang="es-CL"/>
        </a:p>
      </dgm:t>
    </dgm:pt>
    <dgm:pt modelId="{62429D41-CF1A-4C49-90D8-FDBCC819C0FE}" type="pres">
      <dgm:prSet presAssocID="{B0322250-D88A-49FE-A9B7-0A2B2B321B43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L"/>
        </a:p>
      </dgm:t>
    </dgm:pt>
    <dgm:pt modelId="{96A42EAC-054F-4073-B9E8-96295C2EC91D}" type="pres">
      <dgm:prSet presAssocID="{B0322250-D88A-49FE-A9B7-0A2B2B321B43}" presName="arrow" presStyleLbl="bgShp" presStyleIdx="0" presStyleCnt="1" custLinFactNeighborX="2734" custLinFactNeighborY="369"/>
      <dgm:spPr>
        <a:solidFill>
          <a:srgbClr val="FF0000"/>
        </a:solidFill>
      </dgm:spPr>
    </dgm:pt>
    <dgm:pt modelId="{530F8497-6AFC-418E-8174-2243435C424B}" type="pres">
      <dgm:prSet presAssocID="{B0322250-D88A-49FE-A9B7-0A2B2B321B43}" presName="linearProcess" presStyleCnt="0"/>
      <dgm:spPr/>
    </dgm:pt>
    <dgm:pt modelId="{CFDCF39A-9E8D-41A8-88ED-9CB5A0E75E5E}" type="pres">
      <dgm:prSet presAssocID="{85408BC5-FDBC-4015-A50E-04BA1CDA36E7}" presName="text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CL"/>
        </a:p>
      </dgm:t>
    </dgm:pt>
  </dgm:ptLst>
  <dgm:cxnLst>
    <dgm:cxn modelId="{B9C7B0C5-DAA2-454A-B71B-2FCE7640B5B4}" type="presOf" srcId="{B0322250-D88A-49FE-A9B7-0A2B2B321B43}" destId="{62429D41-CF1A-4C49-90D8-FDBCC819C0FE}" srcOrd="0" destOrd="0" presId="urn:microsoft.com/office/officeart/2005/8/layout/hProcess9"/>
    <dgm:cxn modelId="{6DE7C625-A9D6-4CB4-82BD-9BFF5DA145C0}" type="presOf" srcId="{85408BC5-FDBC-4015-A50E-04BA1CDA36E7}" destId="{CFDCF39A-9E8D-41A8-88ED-9CB5A0E75E5E}" srcOrd="0" destOrd="0" presId="urn:microsoft.com/office/officeart/2005/8/layout/hProcess9"/>
    <dgm:cxn modelId="{0B6833A6-58FE-4B6B-82C3-4CC8FB00A014}" srcId="{B0322250-D88A-49FE-A9B7-0A2B2B321B43}" destId="{85408BC5-FDBC-4015-A50E-04BA1CDA36E7}" srcOrd="0" destOrd="0" parTransId="{332A2BB0-4595-4F95-BB8F-C39EE50190A3}" sibTransId="{1FC78C8F-271E-4FA9-8BED-CC58B84C07A0}"/>
    <dgm:cxn modelId="{3C3F9ED6-78C4-4110-AA42-924B563185DD}" type="presParOf" srcId="{62429D41-CF1A-4C49-90D8-FDBCC819C0FE}" destId="{96A42EAC-054F-4073-B9E8-96295C2EC91D}" srcOrd="0" destOrd="0" presId="urn:microsoft.com/office/officeart/2005/8/layout/hProcess9"/>
    <dgm:cxn modelId="{0652C4C0-55D8-432C-BA3A-C134F1067A34}" type="presParOf" srcId="{62429D41-CF1A-4C49-90D8-FDBCC819C0FE}" destId="{530F8497-6AFC-418E-8174-2243435C424B}" srcOrd="1" destOrd="0" presId="urn:microsoft.com/office/officeart/2005/8/layout/hProcess9"/>
    <dgm:cxn modelId="{01A7D4A2-FE4C-41E4-B3DD-10DABEF81577}" type="presParOf" srcId="{530F8497-6AFC-418E-8174-2243435C424B}" destId="{CFDCF39A-9E8D-41A8-88ED-9CB5A0E75E5E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8291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6031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38504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483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7093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1295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4035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84991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1208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9932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2104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CB3E4-2788-43C3-8163-545EEF7E7C38}" type="datetimeFigureOut">
              <a:rPr lang="es-CL" smtClean="0"/>
              <a:t>13-07-2018</a:t>
            </a:fld>
            <a:endParaRPr lang="es-C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DC7DD-7305-4D46-8DF8-38FA076FE9EE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0480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48092" y="2686531"/>
            <a:ext cx="5598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800" b="1" dirty="0"/>
              <a:t>TALLER </a:t>
            </a:r>
            <a:r>
              <a:rPr lang="es-CL" sz="4800" b="1" dirty="0" smtClean="0"/>
              <a:t>N°6</a:t>
            </a:r>
            <a:endParaRPr lang="es-CL" sz="4800" b="1" dirty="0"/>
          </a:p>
          <a:p>
            <a:pPr algn="ctr"/>
            <a:r>
              <a:rPr lang="es-CL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rPr>
              <a:t> </a:t>
            </a:r>
            <a:r>
              <a:rPr lang="es-CL" sz="4800" b="1" dirty="0" smtClean="0"/>
              <a:t>FLUJO DE CAJA</a:t>
            </a:r>
            <a:endParaRPr lang="es-CL" sz="4800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460642" y="5407985"/>
            <a:ext cx="3285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i="1" dirty="0" smtClean="0"/>
              <a:t>Elaborado por Jorge Castro Obregón</a:t>
            </a:r>
            <a:endParaRPr lang="es-CL" sz="1600" b="1" i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739425" y="4816699"/>
            <a:ext cx="3296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sz="2000" b="1" dirty="0"/>
          </a:p>
        </p:txBody>
      </p:sp>
      <p:pic>
        <p:nvPicPr>
          <p:cNvPr id="6" name="Imagen 5" descr="C:\Users\tureta\AppData\Local\Microsoft\Windows\Temporary Internet Files\Content.Outlook\1OW0COW3\LOGO_ALVI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775" y="4524382"/>
            <a:ext cx="2200275" cy="1767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77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053782" y="2934638"/>
            <a:ext cx="4275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s-CL" sz="2000" b="1" dirty="0">
                <a:solidFill>
                  <a:srgbClr val="000000"/>
                </a:solidFill>
              </a:rPr>
              <a:t>El renacer del "almacén de la esquina"</a:t>
            </a:r>
            <a:endParaRPr lang="es-CL" sz="2000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31790" y="4954669"/>
            <a:ext cx="77917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444444"/>
                </a:solidFill>
              </a:rPr>
              <a:t>Más de </a:t>
            </a:r>
            <a:r>
              <a:rPr lang="es-CL" sz="2000" b="1" dirty="0" smtClean="0">
                <a:solidFill>
                  <a:srgbClr val="444444"/>
                </a:solidFill>
              </a:rPr>
              <a:t>120 </a:t>
            </a:r>
            <a:r>
              <a:rPr lang="es-CL" sz="2000" b="1" dirty="0">
                <a:solidFill>
                  <a:srgbClr val="444444"/>
                </a:solidFill>
              </a:rPr>
              <a:t>mil almacenes</a:t>
            </a:r>
            <a:r>
              <a:rPr lang="es-CL" dirty="0">
                <a:solidFill>
                  <a:srgbClr val="444444"/>
                </a:solidFill>
              </a:rPr>
              <a:t> se contabilizan en todo el </a:t>
            </a:r>
            <a:r>
              <a:rPr lang="es-CL" dirty="0" smtClean="0">
                <a:solidFill>
                  <a:srgbClr val="444444"/>
                </a:solidFill>
              </a:rPr>
              <a:t>país</a:t>
            </a:r>
            <a:endParaRPr lang="es-CL" dirty="0">
              <a:solidFill>
                <a:srgbClr val="444444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138" y="62148"/>
            <a:ext cx="2244881" cy="150653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283" y="2158422"/>
            <a:ext cx="3752850" cy="552450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831790" y="3624654"/>
            <a:ext cx="76558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444444"/>
                </a:solidFill>
              </a:rPr>
              <a:t>Cifras de la Confederación del Comercio Detallista y del Turismo (</a:t>
            </a:r>
            <a:r>
              <a:rPr lang="es-CL" dirty="0" err="1">
                <a:solidFill>
                  <a:srgbClr val="444444"/>
                </a:solidFill>
              </a:rPr>
              <a:t>Confedech</a:t>
            </a:r>
            <a:r>
              <a:rPr lang="es-CL" dirty="0">
                <a:solidFill>
                  <a:srgbClr val="444444"/>
                </a:solidFill>
              </a:rPr>
              <a:t>) indican que los negocios de barrio representan hoy más del 40% de las ventas del sector comercio, restaurantes y hoteles.</a:t>
            </a:r>
            <a:endParaRPr lang="es-CL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28964" y="457527"/>
            <a:ext cx="4239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 smtClean="0">
                <a:solidFill>
                  <a:schemeClr val="accent4">
                    <a:lumMod val="75000"/>
                  </a:schemeClr>
                </a:solidFill>
              </a:rPr>
              <a:t>VEAMOS QUE ESTA PASANDO EN CHILE Y </a:t>
            </a:r>
          </a:p>
          <a:p>
            <a:pPr algn="ctr"/>
            <a:r>
              <a:rPr lang="es-CL" b="1" dirty="0" smtClean="0">
                <a:solidFill>
                  <a:schemeClr val="accent4">
                    <a:lumMod val="75000"/>
                  </a:schemeClr>
                </a:solidFill>
              </a:rPr>
              <a:t>COMO SE PROYECTAN LOS ALMACENES DE</a:t>
            </a:r>
          </a:p>
          <a:p>
            <a:pPr algn="ctr"/>
            <a:r>
              <a:rPr lang="es-CL" b="1" dirty="0" smtClean="0">
                <a:solidFill>
                  <a:schemeClr val="accent4">
                    <a:lumMod val="75000"/>
                  </a:schemeClr>
                </a:solidFill>
              </a:rPr>
              <a:t>BARRIO</a:t>
            </a:r>
            <a:endParaRPr lang="es-CL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732" y="2156684"/>
            <a:ext cx="11525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8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L" sz="3600" b="1" dirty="0" smtClean="0"/>
              <a:t>QUE OPINA LOS CLIENTES DE ESTE FENOMENO AL ALZA</a:t>
            </a:r>
            <a:endParaRPr lang="es-CL" sz="3600" b="1" dirty="0"/>
          </a:p>
        </p:txBody>
      </p:sp>
      <p:sp>
        <p:nvSpPr>
          <p:cNvPr id="4" name="Rectángulo 3"/>
          <p:cNvSpPr/>
          <p:nvPr/>
        </p:nvSpPr>
        <p:spPr>
          <a:xfrm>
            <a:off x="628650" y="1683956"/>
            <a:ext cx="8034429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AutoNum type="arabicPlain"/>
            </a:pPr>
            <a:r>
              <a:rPr lang="es-CL" sz="2400" dirty="0" smtClean="0"/>
              <a:t>Este </a:t>
            </a:r>
            <a:r>
              <a:rPr lang="es-CL" sz="2400" dirty="0"/>
              <a:t>local se ha convertido en un punto de </a:t>
            </a:r>
            <a:r>
              <a:rPr lang="es-CL" sz="2400" dirty="0" smtClean="0"/>
              <a:t>encuentro</a:t>
            </a:r>
          </a:p>
          <a:p>
            <a:pPr marL="342900" lvl="1" indent="-342900">
              <a:buAutoNum type="arabicPlain"/>
            </a:pPr>
            <a:r>
              <a:rPr lang="es-CL" sz="2400" dirty="0" smtClean="0"/>
              <a:t>Los </a:t>
            </a:r>
            <a:r>
              <a:rPr lang="es-CL" sz="2400" dirty="0"/>
              <a:t>clientes vienen y se quedan harto rato </a:t>
            </a:r>
            <a:r>
              <a:rPr lang="es-CL" sz="2400" dirty="0" smtClean="0"/>
              <a:t>conversando</a:t>
            </a:r>
          </a:p>
          <a:p>
            <a:pPr marL="342900" lvl="1" indent="-342900">
              <a:buAutoNum type="arabicPlain"/>
            </a:pPr>
            <a:r>
              <a:rPr lang="es-CL" sz="2400" dirty="0" smtClean="0"/>
              <a:t>La </a:t>
            </a:r>
            <a:r>
              <a:rPr lang="es-CL" sz="2400" dirty="0"/>
              <a:t>gran ventaja del almacén “es que acá vienes y compras lo que </a:t>
            </a:r>
            <a:r>
              <a:rPr lang="es-CL" sz="2400" dirty="0" smtClean="0"/>
              <a:t>	necesitas”.</a:t>
            </a:r>
          </a:p>
          <a:p>
            <a:pPr marL="342900" lvl="1" indent="-342900">
              <a:buAutoNum type="arabicPlain"/>
            </a:pPr>
            <a:r>
              <a:rPr lang="es-CL" sz="2400" dirty="0" smtClean="0"/>
              <a:t>“Si </a:t>
            </a:r>
            <a:r>
              <a:rPr lang="es-CL" sz="2400" dirty="0"/>
              <a:t>vas al supermercado sales llena de cosas; te tientas </a:t>
            </a:r>
            <a:r>
              <a:rPr lang="es-CL" sz="2400" dirty="0" smtClean="0"/>
              <a:t>demasiado”</a:t>
            </a:r>
          </a:p>
          <a:p>
            <a:pPr marL="342900" lvl="1" indent="-342900">
              <a:buAutoNum type="arabicPlain"/>
            </a:pPr>
            <a:r>
              <a:rPr lang="es-CL" sz="2400" dirty="0" smtClean="0"/>
              <a:t>Mayor </a:t>
            </a:r>
            <a:r>
              <a:rPr lang="es-CL" sz="2400" dirty="0"/>
              <a:t>cercanía, la opción de encontrarse con los vecinos y conocer qué está pasando en el </a:t>
            </a:r>
            <a:r>
              <a:rPr lang="es-CL" sz="2400" dirty="0" smtClean="0"/>
              <a:t>barrio.</a:t>
            </a:r>
          </a:p>
          <a:p>
            <a:pPr marL="342900" lvl="1" indent="-342900">
              <a:buAutoNum type="arabicPlain"/>
            </a:pPr>
            <a:r>
              <a:rPr lang="es-CL" sz="2400" dirty="0" smtClean="0"/>
              <a:t>“Evitar </a:t>
            </a:r>
            <a:r>
              <a:rPr lang="es-CL" sz="2400" dirty="0"/>
              <a:t>tentarse” con cosas que no necesitan en el supermercado. </a:t>
            </a:r>
            <a:endParaRPr lang="es-CL" sz="2400" dirty="0" smtClean="0"/>
          </a:p>
          <a:p>
            <a:pPr marL="342900" lvl="1" indent="-342900">
              <a:buAutoNum type="arabicPlain"/>
            </a:pPr>
            <a:r>
              <a:rPr lang="es-CL" sz="2400" dirty="0" smtClean="0"/>
              <a:t>El </a:t>
            </a:r>
            <a:r>
              <a:rPr lang="es-CL" sz="2400" dirty="0"/>
              <a:t>encanto de almacenes que retoman el estilo del tradicional “emporio”, además de modernizarse con nuevas tecnologías y escaparates atractivos, los que muchas veces son diseñados con el aporte de los mismos proveedores.</a:t>
            </a:r>
            <a:endParaRPr lang="es-CL" sz="2400" dirty="0" smtClean="0"/>
          </a:p>
          <a:p>
            <a:endParaRPr lang="es-CL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5043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 smtClean="0"/>
              <a:t>EL PUBLICO ESTA CAUTIVO</a:t>
            </a:r>
            <a:endParaRPr lang="es-CL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063915"/>
              </p:ext>
            </p:extLst>
          </p:nvPr>
        </p:nvGraphicFramePr>
        <p:xfrm>
          <a:off x="628650" y="1852519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272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013" y="663574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s-CL" sz="2000" b="1" dirty="0" smtClean="0"/>
              <a:t>LAS BUENAS NOTICIAS:</a:t>
            </a:r>
            <a:br>
              <a:rPr lang="es-CL" sz="2000" b="1" dirty="0" smtClean="0"/>
            </a:br>
            <a:r>
              <a:rPr lang="es-CL" sz="2000" dirty="0" smtClean="0"/>
              <a:t>El </a:t>
            </a:r>
            <a:r>
              <a:rPr lang="es-CL" sz="2000" dirty="0"/>
              <a:t>estudio de la </a:t>
            </a:r>
            <a:r>
              <a:rPr lang="es-CL" sz="2000" dirty="0" err="1"/>
              <a:t>Usach</a:t>
            </a:r>
            <a:r>
              <a:rPr lang="es-CL" sz="2000" dirty="0"/>
              <a:t> también lo confirma. Grandes empresas empiezan a invertir en los almacenes, ayudando a incorporar servicios como tarjetas de débito y lanzando productos en formatos pequeños y, a diferencia del supermercado, ofreciendo ventas por unidades.</a:t>
            </a:r>
          </a:p>
        </p:txBody>
      </p:sp>
      <p:pic>
        <p:nvPicPr>
          <p:cNvPr id="4" name="Marcador de contenid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25" y="4332283"/>
            <a:ext cx="2428875" cy="16764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287541" y="3857987"/>
            <a:ext cx="6930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 smtClean="0">
                <a:solidFill>
                  <a:srgbClr val="000000"/>
                </a:solidFill>
                <a:latin typeface="arial" panose="020B0604020202020204" pitchFamily="34" charset="0"/>
              </a:rPr>
              <a:t>EL CHILENO TIENE UNA FRECUENCIA DE COMPRA MUY ALTA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3" y="2198084"/>
            <a:ext cx="1914793" cy="1387644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478673" y="2545491"/>
            <a:ext cx="6564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LAS GRANDES EMPRESAS INVERTIRAN EN LOS NEGOCIOS PEQUEÑOS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2980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903752" y="4232629"/>
            <a:ext cx="5231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/>
              <a:t>FLUJO DE CAJA</a:t>
            </a:r>
            <a:endParaRPr lang="es-CL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672" y="644967"/>
            <a:ext cx="6124575" cy="28098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74941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210317824"/>
              </p:ext>
            </p:extLst>
          </p:nvPr>
        </p:nvGraphicFramePr>
        <p:xfrm>
          <a:off x="1568970" y="204157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5126636" y="1499016"/>
            <a:ext cx="388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	QUÉ ES UN FLUJO DE CAJA</a:t>
            </a:r>
            <a:endParaRPr lang="es-CL" dirty="0"/>
          </a:p>
        </p:txBody>
      </p:sp>
      <p:sp>
        <p:nvSpPr>
          <p:cNvPr id="9" name="CuadroTexto 8"/>
          <p:cNvSpPr txBox="1"/>
          <p:nvPr/>
        </p:nvSpPr>
        <p:spPr>
          <a:xfrm>
            <a:off x="1356609" y="6077475"/>
            <a:ext cx="7540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UN SINONIMO = </a:t>
            </a:r>
            <a:r>
              <a:rPr lang="es-CL" b="1" dirty="0"/>
              <a:t>S</a:t>
            </a:r>
            <a:r>
              <a:rPr lang="es-CL" b="1" dirty="0" smtClean="0"/>
              <a:t>alidas </a:t>
            </a:r>
            <a:r>
              <a:rPr lang="es-CL" b="1" dirty="0"/>
              <a:t>y entradas </a:t>
            </a:r>
            <a:r>
              <a:rPr lang="es-CL" b="1" dirty="0" smtClean="0"/>
              <a:t>de </a:t>
            </a:r>
            <a:r>
              <a:rPr lang="es-CL" b="1" dirty="0"/>
              <a:t>dinero que tiene una empresa</a:t>
            </a:r>
            <a:endParaRPr lang="es-CL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0409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19726" y="389027"/>
            <a:ext cx="76299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33333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t>PARA QUÉ SIRVE ?</a:t>
            </a:r>
            <a:endParaRPr lang="es-CL" sz="28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044" y="912247"/>
            <a:ext cx="4933950" cy="341947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989350" y="4648110"/>
            <a:ext cx="78098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333333"/>
                </a:solidFill>
                <a:latin typeface="Cambria" panose="02040503050406030204" pitchFamily="18" charset="0"/>
              </a:rPr>
              <a:t>La </a:t>
            </a:r>
            <a:r>
              <a:rPr lang="es-CL" sz="2800" b="1" dirty="0">
                <a:solidFill>
                  <a:srgbClr val="333333"/>
                </a:solidFill>
                <a:latin typeface="Cambria" panose="02040503050406030204" pitchFamily="18" charset="0"/>
              </a:rPr>
              <a:t>importancia del Flujo de Caja es que nos permite conocer en forma rápida la liquidez de la </a:t>
            </a:r>
            <a:r>
              <a:rPr lang="es-CL" sz="2800" b="1" dirty="0" smtClean="0">
                <a:solidFill>
                  <a:srgbClr val="333333"/>
                </a:solidFill>
                <a:latin typeface="Cambria" panose="02040503050406030204" pitchFamily="18" charset="0"/>
              </a:rPr>
              <a:t>empresa</a:t>
            </a:r>
            <a:r>
              <a:rPr lang="es-CL" sz="2800" b="1" dirty="0">
                <a:solidFill>
                  <a:srgbClr val="333333"/>
                </a:solidFill>
                <a:latin typeface="Cambria" panose="02040503050406030204" pitchFamily="18" charset="0"/>
              </a:rPr>
              <a:t> 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76988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19726" y="389027"/>
            <a:ext cx="76299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800" b="1" dirty="0" smtClean="0">
                <a:solidFill>
                  <a:srgbClr val="33333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t>LIQUIDEZ QUE ES?</a:t>
            </a:r>
            <a:endParaRPr lang="es-CL" sz="2800" dirty="0"/>
          </a:p>
        </p:txBody>
      </p:sp>
      <p:sp>
        <p:nvSpPr>
          <p:cNvPr id="5" name="Rectángulo 4"/>
          <p:cNvSpPr/>
          <p:nvPr/>
        </p:nvSpPr>
        <p:spPr>
          <a:xfrm>
            <a:off x="839448" y="3658760"/>
            <a:ext cx="78098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800" dirty="0"/>
              <a:t>La liquidez es la capacidad de la empresa de hacer frente a sus obligaciones de corto plazo. La liquidez se define como la capacidad que tiene una empresa para obtener dinero en efectivo. Es la proximidad de un activo a su conversión en dinero. </a:t>
            </a:r>
            <a:endParaRPr lang="es-CL" sz="28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282" y="1048391"/>
            <a:ext cx="3316514" cy="24742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7229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71" y="150213"/>
            <a:ext cx="5676900" cy="179070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347992" y="1940913"/>
            <a:ext cx="8987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 smtClean="0"/>
              <a:t>AQUÍ NUESTRO PLAN ES EL FLUJO DE CAJA Y ESTE NOS ENTREGA INFORMACIÓN CLAVE QUE </a:t>
            </a:r>
          </a:p>
          <a:p>
            <a:pPr algn="ctr"/>
            <a:r>
              <a:rPr lang="es-CL" b="1" dirty="0" smtClean="0"/>
              <a:t>NOS AYUDA A TOMAR DECISIONES TALES CÓMO:</a:t>
            </a:r>
            <a:endParaRPr lang="es-CL" b="1" dirty="0"/>
          </a:p>
        </p:txBody>
      </p:sp>
      <p:sp>
        <p:nvSpPr>
          <p:cNvPr id="9" name="Rectángulo 8"/>
          <p:cNvSpPr/>
          <p:nvPr/>
        </p:nvSpPr>
        <p:spPr>
          <a:xfrm>
            <a:off x="588936" y="2905063"/>
            <a:ext cx="85550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L" sz="2800" dirty="0" smtClean="0">
                <a:solidFill>
                  <a:srgbClr val="333333"/>
                </a:solidFill>
                <a:latin typeface="Cambria" panose="02040503050406030204" pitchFamily="18" charset="0"/>
              </a:rPr>
              <a:t>¿</a:t>
            </a:r>
            <a:r>
              <a:rPr lang="es-CL" sz="2800" dirty="0">
                <a:solidFill>
                  <a:srgbClr val="333333"/>
                </a:solidFill>
                <a:latin typeface="Cambria" panose="02040503050406030204" pitchFamily="18" charset="0"/>
              </a:rPr>
              <a:t>cuánto podemos comprar de mercadería?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rgbClr val="333333"/>
                </a:solidFill>
                <a:latin typeface="Cambria" panose="02040503050406030204" pitchFamily="18" charset="0"/>
              </a:rPr>
              <a:t>¿Podemos comprar al contado o es necesario solicitar crédito?,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rgbClr val="333333"/>
                </a:solidFill>
                <a:latin typeface="Cambria" panose="02040503050406030204" pitchFamily="18" charset="0"/>
              </a:rPr>
              <a:t>¿Debemos cobrar al contado o es posible otorgar crédito?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rgbClr val="333333"/>
                </a:solidFill>
                <a:latin typeface="Cambria" panose="02040503050406030204" pitchFamily="18" charset="0"/>
              </a:rPr>
              <a:t>¿Podemos pagar las deudas en su fecha de vencimiento o debemos pedir un refinanciamiento?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rgbClr val="333333"/>
                </a:solidFill>
                <a:latin typeface="Cambria" panose="02040503050406030204" pitchFamily="18" charset="0"/>
              </a:rPr>
              <a:t>¿Podemos invertir el excedente de dinero en nuevas inversiones?</a:t>
            </a:r>
            <a:endParaRPr lang="es-CL" sz="2800" b="0" i="0" dirty="0">
              <a:solidFill>
                <a:srgbClr val="333333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9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19528" y="167762"/>
            <a:ext cx="71652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3200" b="1" dirty="0">
                <a:solidFill>
                  <a:srgbClr val="111111"/>
                </a:solidFill>
                <a:latin typeface="Cambria" panose="02040503050406030204" pitchFamily="18" charset="0"/>
              </a:rPr>
              <a:t>Cómo elaborar un Flujo de Caja</a:t>
            </a:r>
            <a:r>
              <a:rPr lang="es-CL" sz="3200" dirty="0"/>
              <a:t/>
            </a:r>
            <a:br>
              <a:rPr lang="es-CL" sz="3200" dirty="0"/>
            </a:br>
            <a:endParaRPr lang="es-CL" sz="3200" dirty="0"/>
          </a:p>
        </p:txBody>
      </p:sp>
      <p:sp>
        <p:nvSpPr>
          <p:cNvPr id="6" name="Rectángulo 5"/>
          <p:cNvSpPr/>
          <p:nvPr/>
        </p:nvSpPr>
        <p:spPr>
          <a:xfrm>
            <a:off x="1244184" y="1393367"/>
            <a:ext cx="66406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800" b="1" dirty="0">
                <a:solidFill>
                  <a:srgbClr val="333333"/>
                </a:solidFill>
                <a:latin typeface="Cambria" panose="02040503050406030204" pitchFamily="18" charset="0"/>
              </a:rPr>
              <a:t>Para elaborar un Flujo de Caja debemos contar con la información sobre los ingresos y egresos de la empresa. </a:t>
            </a:r>
            <a:endParaRPr lang="es-CL" sz="2800" b="1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044" y="3350691"/>
            <a:ext cx="2857500" cy="2314575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18" y="3369430"/>
            <a:ext cx="2971800" cy="1438275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719528" y="5649260"/>
            <a:ext cx="23501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 smtClean="0">
                <a:solidFill>
                  <a:srgbClr val="002060"/>
                </a:solidFill>
              </a:rPr>
              <a:t>INGRESOS</a:t>
            </a:r>
            <a:endParaRPr lang="es-CL" sz="4000" b="1" dirty="0">
              <a:solidFill>
                <a:srgbClr val="00206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6113689" y="5647228"/>
            <a:ext cx="2118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 smtClean="0">
                <a:solidFill>
                  <a:srgbClr val="002060"/>
                </a:solidFill>
              </a:rPr>
              <a:t>EGRESOS</a:t>
            </a:r>
            <a:endParaRPr lang="es-CL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13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830079" y="-107708"/>
            <a:ext cx="7886700" cy="859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dirty="0" smtClean="0"/>
              <a:t>CÚAL ES EL PERÍODO DE TIEMPO ACONSEJADO</a:t>
            </a:r>
            <a:endParaRPr lang="es-CL" sz="24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273" y="1179789"/>
            <a:ext cx="497205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8" y="751724"/>
            <a:ext cx="3022448" cy="27221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CuadroTexto 10"/>
          <p:cNvSpPr txBox="1"/>
          <p:nvPr/>
        </p:nvSpPr>
        <p:spPr>
          <a:xfrm>
            <a:off x="1394085" y="3807502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SEMANAL?</a:t>
            </a:r>
            <a:endParaRPr lang="es-CL" dirty="0"/>
          </a:p>
        </p:txBody>
      </p:sp>
      <p:sp>
        <p:nvSpPr>
          <p:cNvPr id="12" name="CuadroTexto 11"/>
          <p:cNvSpPr txBox="1"/>
          <p:nvPr/>
        </p:nvSpPr>
        <p:spPr>
          <a:xfrm>
            <a:off x="6043534" y="466752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MENSUAL?</a:t>
            </a:r>
            <a:endParaRPr lang="es-CL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723869" y="5501390"/>
            <a:ext cx="662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smtClean="0"/>
              <a:t>PARA ALMACENES DE BARRIO ACONSEJAMOS UNO DIARIO MENSUALIZADO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0112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83" y="1959885"/>
            <a:ext cx="6363933" cy="4871803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639752" y="526047"/>
            <a:ext cx="64945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PRESENTEMOS EL FORMATO GENERAL EN EXCEL</a:t>
            </a:r>
          </a:p>
          <a:p>
            <a:endParaRPr lang="es-CL" sz="2000" b="1" dirty="0"/>
          </a:p>
          <a:p>
            <a:pPr algn="ctr"/>
            <a:r>
              <a:rPr lang="es-CL" sz="2000" b="1" dirty="0" smtClean="0"/>
              <a:t>TENGO A LA VISTA UN MES COMPLETO PERO CON VALORES</a:t>
            </a:r>
          </a:p>
          <a:p>
            <a:pPr algn="ctr"/>
            <a:r>
              <a:rPr lang="es-CL" sz="2000" b="1" dirty="0" smtClean="0"/>
              <a:t>DIARIOS</a:t>
            </a:r>
            <a:endParaRPr lang="es-CL" sz="20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855" y="144790"/>
            <a:ext cx="1156897" cy="116262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7651916" y="4257207"/>
            <a:ext cx="1482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>
                <a:solidFill>
                  <a:srgbClr val="002060"/>
                </a:solidFill>
              </a:rPr>
              <a:t>ENTRE MÁS DETALLADOS….MAS UTIL</a:t>
            </a:r>
          </a:p>
          <a:p>
            <a:endParaRPr lang="es-C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48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2172403" y="514686"/>
            <a:ext cx="5688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AL PIE DE LA HOJA EXCEL VA EL FLUJO DE CADA MES</a:t>
            </a:r>
            <a:endParaRPr lang="es-CL" sz="2000" b="1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17" y="258928"/>
            <a:ext cx="1649386" cy="91162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12" y="1495190"/>
            <a:ext cx="6363933" cy="4871803"/>
          </a:xfrm>
          <a:prstGeom prst="rect">
            <a:avLst/>
          </a:prstGeom>
        </p:spPr>
      </p:pic>
      <p:cxnSp>
        <p:nvCxnSpPr>
          <p:cNvPr id="17" name="Conector angular 16"/>
          <p:cNvCxnSpPr>
            <a:stCxn id="12" idx="2"/>
          </p:cNvCxnSpPr>
          <p:nvPr/>
        </p:nvCxnSpPr>
        <p:spPr>
          <a:xfrm rot="5400000">
            <a:off x="1390499" y="2524716"/>
            <a:ext cx="5235840" cy="2016000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97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2172403" y="514686"/>
            <a:ext cx="34577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VAN TODOS LOS DIAS DEL MES</a:t>
            </a:r>
            <a:endParaRPr lang="es-CL" sz="2000" b="1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12" y="1495190"/>
            <a:ext cx="6363933" cy="4871803"/>
          </a:xfrm>
          <a:prstGeom prst="rect">
            <a:avLst/>
          </a:prstGeom>
        </p:spPr>
      </p:pic>
      <p:cxnSp>
        <p:nvCxnSpPr>
          <p:cNvPr id="17" name="Conector angular 16"/>
          <p:cNvCxnSpPr/>
          <p:nvPr/>
        </p:nvCxnSpPr>
        <p:spPr>
          <a:xfrm rot="16200000" flipH="1">
            <a:off x="3179790" y="1183664"/>
            <a:ext cx="2641459" cy="1805760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18" y="0"/>
            <a:ext cx="1495503" cy="153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8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2757020" y="530337"/>
            <a:ext cx="4151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LA LÍNEA ROJA INDICA EL DIA DE HOY</a:t>
            </a:r>
            <a:endParaRPr lang="es-CL" sz="2000" b="1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12" y="1495190"/>
            <a:ext cx="6363933" cy="4871803"/>
          </a:xfrm>
          <a:prstGeom prst="rect">
            <a:avLst/>
          </a:prstGeom>
        </p:spPr>
      </p:pic>
      <p:cxnSp>
        <p:nvCxnSpPr>
          <p:cNvPr id="17" name="Conector angular 16"/>
          <p:cNvCxnSpPr/>
          <p:nvPr/>
        </p:nvCxnSpPr>
        <p:spPr>
          <a:xfrm rot="16200000" flipH="1">
            <a:off x="3285044" y="1794712"/>
            <a:ext cx="2624253" cy="530021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24" y="0"/>
            <a:ext cx="1517844" cy="149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0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/>
          <p:nvPr/>
        </p:nvSpPr>
        <p:spPr>
          <a:xfrm>
            <a:off x="2481884" y="495255"/>
            <a:ext cx="58980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TENEMOS 2 TOTALES QUE MANTENER – HORIZONTAL </a:t>
            </a:r>
          </a:p>
          <a:p>
            <a:r>
              <a:rPr lang="es-CL" sz="2000" b="1" dirty="0" smtClean="0"/>
              <a:t>Y VERTICAL</a:t>
            </a:r>
            <a:endParaRPr lang="es-CL" sz="2000" b="1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12" y="1495190"/>
            <a:ext cx="6363933" cy="4871803"/>
          </a:xfrm>
          <a:prstGeom prst="rect">
            <a:avLst/>
          </a:prstGeom>
        </p:spPr>
      </p:pic>
      <p:cxnSp>
        <p:nvCxnSpPr>
          <p:cNvPr id="17" name="Conector angular 16"/>
          <p:cNvCxnSpPr/>
          <p:nvPr/>
        </p:nvCxnSpPr>
        <p:spPr>
          <a:xfrm rot="16200000" flipH="1">
            <a:off x="6145012" y="1842834"/>
            <a:ext cx="2595211" cy="374751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53" y="0"/>
            <a:ext cx="1945531" cy="1698396"/>
          </a:xfrm>
          <a:prstGeom prst="rect">
            <a:avLst/>
          </a:prstGeom>
        </p:spPr>
      </p:pic>
      <p:cxnSp>
        <p:nvCxnSpPr>
          <p:cNvPr id="8" name="Conector angular 7"/>
          <p:cNvCxnSpPr/>
          <p:nvPr/>
        </p:nvCxnSpPr>
        <p:spPr>
          <a:xfrm rot="16200000" flipH="1">
            <a:off x="819475" y="3367802"/>
            <a:ext cx="4841239" cy="235405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05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4"/>
            <a:ext cx="2456086" cy="230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187088" y="986067"/>
            <a:ext cx="539622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EL FLUJO DE CAJA SE HACE ANTICIPADAMENTE:</a:t>
            </a:r>
          </a:p>
          <a:p>
            <a:r>
              <a:rPr lang="es-CL" sz="1600" dirty="0" smtClean="0"/>
              <a:t>Es decir si voy a hacer el flujo de Diciembre debo prepáralo en </a:t>
            </a:r>
          </a:p>
          <a:p>
            <a:r>
              <a:rPr lang="es-CL" sz="1600" dirty="0" smtClean="0"/>
              <a:t>Noviembre.</a:t>
            </a:r>
            <a:endParaRPr lang="es-CL" sz="1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056" y="1124261"/>
            <a:ext cx="358770" cy="35601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039" y="2766199"/>
            <a:ext cx="553963" cy="54829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021" y="4715733"/>
            <a:ext cx="709995" cy="670046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3290002" y="26393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 smtClean="0"/>
              <a:t>La información se saca de lo que conocemos o podemos predecir.</a:t>
            </a:r>
            <a:endParaRPr lang="es-CL" dirty="0"/>
          </a:p>
        </p:txBody>
      </p:sp>
      <p:sp>
        <p:nvSpPr>
          <p:cNvPr id="14" name="Rectángulo 13"/>
          <p:cNvSpPr/>
          <p:nvPr/>
        </p:nvSpPr>
        <p:spPr>
          <a:xfrm>
            <a:off x="3844457" y="486609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 smtClean="0"/>
              <a:t>Los gastos que debo pagar los anoto con IVA.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8945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6381" y="-4139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4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LA PIZARRA HAREMOS UN FLUJO DE CAJA:</a:t>
            </a:r>
            <a:br>
              <a:rPr lang="es-CL" sz="24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CL" sz="2800" b="1" dirty="0" smtClean="0"/>
              <a:t>COMENZEMOS CON EL SALDO INICIAL</a:t>
            </a:r>
            <a:endParaRPr lang="es-CL" sz="28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60" y="1569640"/>
            <a:ext cx="6288976" cy="2759350"/>
          </a:xfrm>
          <a:prstGeom prst="rect">
            <a:avLst/>
          </a:prstGeom>
        </p:spPr>
      </p:pic>
      <p:cxnSp>
        <p:nvCxnSpPr>
          <p:cNvPr id="21" name="Conector angular 20"/>
          <p:cNvCxnSpPr/>
          <p:nvPr/>
        </p:nvCxnSpPr>
        <p:spPr>
          <a:xfrm rot="5400000">
            <a:off x="2353459" y="884420"/>
            <a:ext cx="1034319" cy="854437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1202660" y="4961744"/>
            <a:ext cx="681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Se coloca el dinero en efectivo con el que se inicia el período el cual puede ser negativo o positivo. Este monto por lo general es lo quedo en caja o en el banco al final del mes anterior.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6077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6381" y="-4139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SIGAMOS CON LOS INGRESOS</a:t>
            </a:r>
            <a:endParaRPr lang="es-CL" sz="28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60" y="1569640"/>
            <a:ext cx="6288976" cy="2759350"/>
          </a:xfrm>
          <a:prstGeom prst="rect">
            <a:avLst/>
          </a:prstGeom>
        </p:spPr>
      </p:pic>
      <p:cxnSp>
        <p:nvCxnSpPr>
          <p:cNvPr id="21" name="Conector angular 20"/>
          <p:cNvCxnSpPr/>
          <p:nvPr/>
        </p:nvCxnSpPr>
        <p:spPr>
          <a:xfrm rot="10800000" flipV="1">
            <a:off x="1813810" y="794479"/>
            <a:ext cx="1484028" cy="1169232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1097729" y="4614461"/>
            <a:ext cx="68170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Se coloca todos los conceptos por los cuales ingresa dinero. Lo ideal es separar los ingresos por las ventas del día con los ingresos del crédito (fiado) y se tiene Clientes que son empresas también es muy bueno separar este tipo de Ingreso. En nuestro ejemplo tenemos 3 formas distintas de Ingresos. </a:t>
            </a:r>
            <a:r>
              <a:rPr lang="es-CL" dirty="0"/>
              <a:t>Cuando se han </a:t>
            </a:r>
            <a:r>
              <a:rPr lang="es-CL" dirty="0" smtClean="0"/>
              <a:t>incluidos </a:t>
            </a:r>
            <a:r>
              <a:rPr lang="es-CL" dirty="0"/>
              <a:t>todos </a:t>
            </a:r>
            <a:r>
              <a:rPr lang="es-CL" dirty="0" smtClean="0"/>
              <a:t>los valores </a:t>
            </a:r>
            <a:r>
              <a:rPr lang="es-CL" dirty="0"/>
              <a:t>, se totalizan por columnas en la Fila Saldo </a:t>
            </a:r>
            <a:r>
              <a:rPr lang="es-CL" dirty="0" smtClean="0"/>
              <a:t>Ingresos.</a:t>
            </a:r>
          </a:p>
          <a:p>
            <a:r>
              <a:rPr lang="es-CL" dirty="0" smtClean="0">
                <a:solidFill>
                  <a:srgbClr val="FF0000"/>
                </a:solidFill>
              </a:rPr>
              <a:t>¿POR QUE ES IMPORTANTE LLEVAR EL REGISTRO DE LOS INGRESOS EN ESTAS 3 CATEGORIAS?</a:t>
            </a: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95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VEAMOS AHORA LOS EGRESOS</a:t>
            </a:r>
            <a:br>
              <a:rPr lang="es-CL" sz="2800" b="1" dirty="0" smtClean="0"/>
            </a:br>
            <a:r>
              <a:rPr lang="es-CL" sz="2800" b="1" dirty="0" smtClean="0"/>
              <a:t>COMPRAS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Tenemos 2 tipos de Compras. La 1ª. Es la compra al contado y en nuestra planilla se denomina “Compra Mercadería” y las 2da. Compra es aquella que compramos a FECHA o también a crédito y en </a:t>
            </a:r>
            <a:r>
              <a:rPr lang="es-CL" dirty="0"/>
              <a:t>nuestra planilla se denomina </a:t>
            </a:r>
            <a:r>
              <a:rPr lang="es-CL" dirty="0" smtClean="0"/>
              <a:t>“Proveedores”, pero aquí hacemos una diferencia entre el cheque a fecha que va marcado con </a:t>
            </a:r>
            <a:r>
              <a:rPr lang="es-CL" dirty="0" smtClean="0">
                <a:solidFill>
                  <a:srgbClr val="FF0000"/>
                </a:solidFill>
              </a:rPr>
              <a:t>ROJO</a:t>
            </a:r>
            <a:r>
              <a:rPr lang="es-CL" dirty="0" smtClean="0"/>
              <a:t>, en nuestra planilla los días 5 y 25 y los proveedores que sólo tengo convenio lo coloco en una posible fecha de pago pero no se marca con ROJO.</a:t>
            </a:r>
            <a:endParaRPr lang="es-CL" dirty="0">
              <a:solidFill>
                <a:srgbClr val="FF0000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39" y="914968"/>
            <a:ext cx="8428614" cy="3624350"/>
          </a:xfrm>
          <a:prstGeom prst="rect">
            <a:avLst/>
          </a:prstGeom>
        </p:spPr>
      </p:pic>
      <p:cxnSp>
        <p:nvCxnSpPr>
          <p:cNvPr id="21" name="Conector angular 20"/>
          <p:cNvCxnSpPr/>
          <p:nvPr/>
        </p:nvCxnSpPr>
        <p:spPr>
          <a:xfrm rot="5400000">
            <a:off x="2290031" y="899693"/>
            <a:ext cx="1903185" cy="1686394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angular 9"/>
          <p:cNvCxnSpPr/>
          <p:nvPr/>
        </p:nvCxnSpPr>
        <p:spPr>
          <a:xfrm rot="5400000">
            <a:off x="2630046" y="1084333"/>
            <a:ext cx="2356637" cy="1770564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VEAMOS AHORA LOS EGRESOS</a:t>
            </a:r>
            <a:br>
              <a:rPr lang="es-CL" sz="2800" b="1" dirty="0" smtClean="0"/>
            </a:br>
            <a:r>
              <a:rPr lang="es-CL" sz="2800" b="1" dirty="0" smtClean="0"/>
              <a:t>SALARIOS E IMPOSICIONES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El salario líquido se anota el 31 o último día del mes, con el opcional de “Anticipo” bajo el nombre de Salarios. Y el pago de imposiciones se anota el día 10 o hasta el </a:t>
            </a:r>
            <a:r>
              <a:rPr lang="es-CL" smtClean="0"/>
              <a:t>13 si </a:t>
            </a:r>
            <a:r>
              <a:rPr lang="es-CL" dirty="0" smtClean="0"/>
              <a:t>el pago es </a:t>
            </a:r>
            <a:r>
              <a:rPr lang="es-CL" smtClean="0"/>
              <a:t>por Internet.</a:t>
            </a:r>
            <a:endParaRPr lang="es-CL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9" y="942763"/>
            <a:ext cx="7978164" cy="3624350"/>
          </a:xfrm>
          <a:prstGeom prst="rect">
            <a:avLst/>
          </a:prstGeom>
        </p:spPr>
      </p:pic>
      <p:cxnSp>
        <p:nvCxnSpPr>
          <p:cNvPr id="10" name="Conector angular 9"/>
          <p:cNvCxnSpPr/>
          <p:nvPr/>
        </p:nvCxnSpPr>
        <p:spPr>
          <a:xfrm rot="16200000" flipH="1">
            <a:off x="4195541" y="1396955"/>
            <a:ext cx="2401441" cy="929785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/>
          <p:cNvCxnSpPr/>
          <p:nvPr/>
        </p:nvCxnSpPr>
        <p:spPr>
          <a:xfrm rot="5400000">
            <a:off x="1913629" y="1336505"/>
            <a:ext cx="2212879" cy="870332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41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VEAMOS AHORA LOS EGRESOS</a:t>
            </a:r>
            <a:br>
              <a:rPr lang="es-CL" sz="2800" b="1" dirty="0" smtClean="0"/>
            </a:br>
            <a:r>
              <a:rPr lang="es-CL" sz="2800" b="1" dirty="0" smtClean="0"/>
              <a:t>Gastos básicos (Luz-agua-Gas)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En esta cuenta es importante saber las fechas de vencimiento de cada consumo y dejarla permanente en cada mes del flujo. Cada una de estas cuentas tiene un día fijo de vencimiento que no cambia casi nunca.</a:t>
            </a:r>
            <a:endParaRPr lang="es-CL" dirty="0">
              <a:solidFill>
                <a:srgbClr val="FF000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6" y="886436"/>
            <a:ext cx="7978164" cy="3624350"/>
          </a:xfrm>
          <a:prstGeom prst="rect">
            <a:avLst/>
          </a:prstGeom>
        </p:spPr>
      </p:pic>
      <p:cxnSp>
        <p:nvCxnSpPr>
          <p:cNvPr id="21" name="Conector angular 20"/>
          <p:cNvCxnSpPr/>
          <p:nvPr/>
        </p:nvCxnSpPr>
        <p:spPr>
          <a:xfrm rot="5400000">
            <a:off x="1700468" y="1902834"/>
            <a:ext cx="2992374" cy="517165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43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VEAMOS AHORA LA PATENTE COMERCIAL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 smtClean="0"/>
              <a:t>Veamos a continuación algunos alcances sobre esto</a:t>
            </a:r>
            <a:endParaRPr lang="es-CL" sz="3200" b="1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29" y="917213"/>
            <a:ext cx="7978164" cy="3624350"/>
          </a:xfrm>
          <a:prstGeom prst="rect">
            <a:avLst/>
          </a:prstGeom>
        </p:spPr>
      </p:pic>
      <p:cxnSp>
        <p:nvCxnSpPr>
          <p:cNvPr id="21" name="Conector angular 20"/>
          <p:cNvCxnSpPr/>
          <p:nvPr/>
        </p:nvCxnSpPr>
        <p:spPr>
          <a:xfrm rot="5400000">
            <a:off x="1573053" y="2075219"/>
            <a:ext cx="3292177" cy="472196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88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4"/>
            <a:ext cx="2456086" cy="230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187088" y="986067"/>
            <a:ext cx="60591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¿Qué es una patente municipal?</a:t>
            </a:r>
            <a:r>
              <a:rPr lang="es-CL" dirty="0"/>
              <a:t/>
            </a:r>
            <a:br>
              <a:rPr lang="es-CL" dirty="0"/>
            </a:br>
            <a:r>
              <a:rPr lang="es-CL" dirty="0"/>
              <a:t>El permiso necesario para emprender cualquier actividad </a:t>
            </a:r>
            <a:endParaRPr lang="es-CL" dirty="0" smtClean="0"/>
          </a:p>
          <a:p>
            <a:r>
              <a:rPr lang="es-CL" dirty="0" smtClean="0"/>
              <a:t>comercial </a:t>
            </a:r>
            <a:r>
              <a:rPr lang="es-CL" dirty="0"/>
              <a:t>que necesita un local fijo. Lo otorga la </a:t>
            </a:r>
            <a:r>
              <a:rPr lang="es-CL" dirty="0" smtClean="0"/>
              <a:t>municipalidad</a:t>
            </a:r>
          </a:p>
          <a:p>
            <a:r>
              <a:rPr lang="es-CL" dirty="0" smtClean="0"/>
              <a:t> </a:t>
            </a:r>
            <a:r>
              <a:rPr lang="es-CL" dirty="0"/>
              <a:t>del lugar donde se instalará el negocio.</a:t>
            </a:r>
            <a:endParaRPr lang="es-CL" sz="1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056" y="1124261"/>
            <a:ext cx="358770" cy="35601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203" y="2766147"/>
            <a:ext cx="553963" cy="54829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2002" y="-2115"/>
            <a:ext cx="1273757" cy="121131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2868441" y="2766147"/>
            <a:ext cx="635438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b="1" dirty="0">
                <a:solidFill>
                  <a:srgbClr val="333333"/>
                </a:solidFill>
                <a:latin typeface="Verdana" panose="020B0604030504040204" pitchFamily="34" charset="0"/>
              </a:rPr>
              <a:t>¿Cuánto cuesta sacar una patente?</a:t>
            </a:r>
            <a:r>
              <a:rPr lang="es-CL" dirty="0"/>
              <a:t/>
            </a:r>
            <a:br>
              <a:rPr lang="es-CL" dirty="0"/>
            </a:br>
            <a:r>
              <a:rPr lang="es-CL" dirty="0">
                <a:solidFill>
                  <a:srgbClr val="333333"/>
                </a:solidFill>
                <a:latin typeface="Verdana" panose="020B0604030504040204" pitchFamily="34" charset="0"/>
              </a:rPr>
              <a:t>El pago de la patente es anual y su precio varía en cada municipalidad. El monto a pagar es entre el 2,5 por mil y el 5 por mil del capital propio del negocio, declarado ante Impuestos Internos, con un mínimo de 1 UTM y un máximo de 8 mil UTM al año.</a:t>
            </a:r>
            <a:r>
              <a:rPr lang="es-CL" dirty="0"/>
              <a:t/>
            </a:r>
            <a:br>
              <a:rPr lang="es-CL" dirty="0"/>
            </a:br>
            <a:r>
              <a:rPr lang="es-CL" dirty="0">
                <a:solidFill>
                  <a:srgbClr val="333333"/>
                </a:solidFill>
                <a:latin typeface="Verdana" panose="020B0604030504040204" pitchFamily="34" charset="0"/>
              </a:rPr>
              <a:t>Por ejemplo, si el capital del negocio es de $100 millones y la municipalidad cobra el 5 por mil, la patente será de $500.000.</a:t>
            </a:r>
            <a:r>
              <a:rPr lang="es-CL" dirty="0"/>
              <a:t/>
            </a:r>
            <a:br>
              <a:rPr lang="es-CL" dirty="0"/>
            </a:br>
            <a:r>
              <a:rPr lang="es-CL" dirty="0">
                <a:solidFill>
                  <a:srgbClr val="333333"/>
                </a:solidFill>
                <a:latin typeface="Verdana" panose="020B0604030504040204" pitchFamily="34" charset="0"/>
              </a:rPr>
              <a:t>Si bien el pago es anual, las municipalidades permiten el pago en dos cuotas semestrales.</a:t>
            </a:r>
            <a:endParaRPr lang="es-CL" dirty="0"/>
          </a:p>
        </p:txBody>
      </p:sp>
      <p:sp>
        <p:nvSpPr>
          <p:cNvPr id="4" name="CuadroTexto 3"/>
          <p:cNvSpPr txBox="1"/>
          <p:nvPr/>
        </p:nvSpPr>
        <p:spPr>
          <a:xfrm>
            <a:off x="1459501" y="6086007"/>
            <a:ext cx="7039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>
                <a:solidFill>
                  <a:srgbClr val="FF0000"/>
                </a:solidFill>
              </a:rPr>
              <a:t>BREVE EXPLICACION DE LO QUE ES EL CAPITAL PROPIO DEL NEGOCIO</a:t>
            </a: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17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FINALMENTE LOS EGRESOS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 smtClean="0"/>
              <a:t>Están compuesto por todos aquellos pagos que su negocio realiza durante cada mes. Estos pagos deben ser propios del negocio y no deben mezclarse con gastos personales. Todos los egresos se Totalizan por columnas en la fila Saldo Egresos</a:t>
            </a:r>
            <a:endParaRPr lang="es-CL" sz="2000" b="1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29" y="917213"/>
            <a:ext cx="7978164" cy="3624350"/>
          </a:xfrm>
          <a:prstGeom prst="rect">
            <a:avLst/>
          </a:prstGeom>
        </p:spPr>
      </p:pic>
      <p:cxnSp>
        <p:nvCxnSpPr>
          <p:cNvPr id="6" name="Conector angular 5"/>
          <p:cNvCxnSpPr/>
          <p:nvPr/>
        </p:nvCxnSpPr>
        <p:spPr>
          <a:xfrm rot="5400000">
            <a:off x="651158" y="1258256"/>
            <a:ext cx="3397107" cy="2211054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1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SALDO FINAL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97729" y="4614461"/>
            <a:ext cx="68170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Al llegar a este punto de la comparación, tenemos la fila Saldo Flujo Caja, en la cual tenemos la diferencia entre nuestros Ingresos de efectivo contra </a:t>
            </a:r>
            <a:r>
              <a:rPr lang="es-CL" b="1" dirty="0"/>
              <a:t>los </a:t>
            </a:r>
            <a:r>
              <a:rPr lang="es-CL" b="1" dirty="0" smtClean="0"/>
              <a:t>Egresos </a:t>
            </a:r>
            <a:r>
              <a:rPr lang="es-CL" b="1" dirty="0"/>
              <a:t>de </a:t>
            </a:r>
            <a:r>
              <a:rPr lang="es-CL" b="1" dirty="0" smtClean="0"/>
              <a:t>efectivo. El resultado puede ser positivo es decir nuestros Ingresos son mayores que los Egresos, el </a:t>
            </a:r>
            <a:r>
              <a:rPr lang="es-CL" b="1" dirty="0"/>
              <a:t>resultado puede ser </a:t>
            </a:r>
            <a:r>
              <a:rPr lang="es-CL" b="1" dirty="0" smtClean="0"/>
              <a:t>negativo es </a:t>
            </a:r>
            <a:r>
              <a:rPr lang="es-CL" b="1" dirty="0"/>
              <a:t>decir nuestros Ingresos </a:t>
            </a:r>
            <a:r>
              <a:rPr lang="es-CL" b="1" dirty="0" smtClean="0"/>
              <a:t>son menores que </a:t>
            </a:r>
            <a:r>
              <a:rPr lang="es-CL" b="1" dirty="0"/>
              <a:t>los </a:t>
            </a:r>
            <a:r>
              <a:rPr lang="es-CL" b="1" dirty="0" smtClean="0"/>
              <a:t>Egresos. Sea cual sea el resultado el saldo de cada columna , se debe pasar al siguiente como SALDO FLUJO CAJA </a:t>
            </a:r>
            <a:endParaRPr lang="es-CL" b="1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29" y="917213"/>
            <a:ext cx="7978164" cy="3624350"/>
          </a:xfrm>
          <a:prstGeom prst="rect">
            <a:avLst/>
          </a:prstGeom>
        </p:spPr>
      </p:pic>
      <p:cxnSp>
        <p:nvCxnSpPr>
          <p:cNvPr id="6" name="Conector angular 5"/>
          <p:cNvCxnSpPr/>
          <p:nvPr/>
        </p:nvCxnSpPr>
        <p:spPr>
          <a:xfrm rot="5400000">
            <a:off x="846258" y="1932584"/>
            <a:ext cx="3876336" cy="1341626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61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5"/>
            <a:ext cx="1145854" cy="107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232059" y="2005398"/>
            <a:ext cx="6005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Puede prepagar un Proveedor que este ofreciendo descuento </a:t>
            </a:r>
          </a:p>
          <a:p>
            <a:r>
              <a:rPr lang="es-CL" dirty="0" smtClean="0"/>
              <a:t>por pago anticipado.</a:t>
            </a:r>
            <a:endParaRPr lang="es-CL" sz="1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901" y="2075129"/>
            <a:ext cx="358770" cy="35601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9696" y="2867155"/>
            <a:ext cx="553963" cy="54829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678" y="486576"/>
            <a:ext cx="1199710" cy="120350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3047826" y="162216"/>
            <a:ext cx="419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QUÉ HAGO SI EL SALDO CAJA ES POSITIVO</a:t>
            </a:r>
            <a:endParaRPr lang="es-CL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3047826" y="2769119"/>
            <a:ext cx="5967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Uso de la línea de crédito o tarjeta de crédito. LOS INTERESES </a:t>
            </a:r>
          </a:p>
          <a:p>
            <a:r>
              <a:rPr lang="es-CL" dirty="0" smtClean="0"/>
              <a:t>SON MUUUUY ALTOS.</a:t>
            </a:r>
            <a:endParaRPr lang="es-CL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0402" y="3966225"/>
            <a:ext cx="709995" cy="67004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96677" y="3927654"/>
            <a:ext cx="6444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Dejar ese saldo positivo en el flujo del siguiente mes por si pudiese</a:t>
            </a:r>
          </a:p>
          <a:p>
            <a:r>
              <a:rPr lang="es-CL" dirty="0" smtClean="0"/>
              <a:t>requerir cubrir gastos imprevistos.</a:t>
            </a:r>
            <a:endParaRPr lang="es-CL" sz="16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182" y="5191430"/>
            <a:ext cx="635799" cy="627669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2596677" y="5505264"/>
            <a:ext cx="5953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Renovación o hacer la mantención de un equipo que lleva un </a:t>
            </a:r>
          </a:p>
          <a:p>
            <a:r>
              <a:rPr lang="es-CL" dirty="0" smtClean="0"/>
              <a:t>buen tiempo sin reparación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2049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5"/>
            <a:ext cx="1145854" cy="107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3838" y="1676953"/>
            <a:ext cx="58582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Postergar el pago de Proveedores algunos días. Puede que </a:t>
            </a:r>
          </a:p>
          <a:p>
            <a:r>
              <a:rPr lang="es-CL" dirty="0" smtClean="0"/>
              <a:t>tenga algunas semanas más cargadas de gastos por lo tanto </a:t>
            </a:r>
          </a:p>
          <a:p>
            <a:r>
              <a:rPr lang="es-CL" dirty="0" smtClean="0"/>
              <a:t>busque semanas más aliviadas y así compromete una nueva </a:t>
            </a:r>
          </a:p>
          <a:p>
            <a:r>
              <a:rPr lang="es-CL" dirty="0" smtClean="0"/>
              <a:t>fecha. LO IMPORTANTE ES DAR UNA FECHA EXACTA.</a:t>
            </a:r>
            <a:endParaRPr lang="es-CL" sz="1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516" y="1921100"/>
            <a:ext cx="358770" cy="35601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938" y="3111092"/>
            <a:ext cx="553963" cy="54829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3047826" y="162216"/>
            <a:ext cx="427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QUÉ HAGO SI EL SALDO CAJA ES NEGATIVO</a:t>
            </a:r>
            <a:endParaRPr lang="es-CL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3030286" y="3042789"/>
            <a:ext cx="6029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Implemente promociones con precios muy bajos, así recogerá </a:t>
            </a:r>
          </a:p>
          <a:p>
            <a:r>
              <a:rPr lang="es-CL" dirty="0" smtClean="0"/>
              <a:t>dinero más rápido.</a:t>
            </a:r>
            <a:endParaRPr lang="es-CL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0402" y="3966225"/>
            <a:ext cx="709995" cy="67004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96677" y="3927654"/>
            <a:ext cx="6429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Programar descuento por pronto pago para aquellos que le deben </a:t>
            </a:r>
          </a:p>
          <a:p>
            <a:r>
              <a:rPr lang="es-CL" dirty="0" smtClean="0"/>
              <a:t>dinero. Sí deben ser muy atractivos.</a:t>
            </a:r>
            <a:endParaRPr lang="es-CL" sz="16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82" y="5191430"/>
            <a:ext cx="635799" cy="627669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2596677" y="5505264"/>
            <a:ext cx="5953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Renovación o hacer la mantención de un equipo que lleva un </a:t>
            </a:r>
          </a:p>
          <a:p>
            <a:r>
              <a:rPr lang="es-CL" dirty="0" smtClean="0"/>
              <a:t>buen tiempo sin reparación</a:t>
            </a:r>
            <a:endParaRPr lang="es-CL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8021" y="557521"/>
            <a:ext cx="1053840" cy="10309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49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5"/>
            <a:ext cx="1145854" cy="107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082046" y="2769119"/>
            <a:ext cx="6812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smtClean="0"/>
              <a:t>Aplique la estrategia igual a saldo negativo pero aquí </a:t>
            </a:r>
          </a:p>
          <a:p>
            <a:r>
              <a:rPr lang="es-CL" sz="2400" dirty="0" smtClean="0"/>
              <a:t>deberá tener más paciencia y no excederse en los </a:t>
            </a:r>
          </a:p>
          <a:p>
            <a:r>
              <a:rPr lang="es-CL" sz="2400" dirty="0" smtClean="0"/>
              <a:t>descuentos o promociones</a:t>
            </a:r>
            <a:endParaRPr lang="es-CL" sz="20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596" y="2952591"/>
            <a:ext cx="358770" cy="35601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3047826" y="162216"/>
            <a:ext cx="379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QUÉ HAGO SI EL SALDO CAJA ES CERO</a:t>
            </a:r>
            <a:endParaRPr lang="es-CL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515" y="564341"/>
            <a:ext cx="1093411" cy="10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2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1371" y="-1884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CL" sz="2800" b="1" dirty="0" smtClean="0"/>
              <a:t>SALDO FINAL</a:t>
            </a:r>
            <a:endParaRPr lang="es-CL" sz="2800" b="1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82738" y="4871887"/>
            <a:ext cx="6817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smtClean="0"/>
              <a:t>En la tabla de flujo de arriba, usted habrá notado , que hay una columna al final en la parte derecha , titulada TOTAL. En esta columna usted podrá totalizar cada una de las cuentas , para saber a qué porcentaje corresponde a cada una de ellas en el total de ingresos y en el total de egresos. </a:t>
            </a:r>
            <a:r>
              <a:rPr lang="es-CL" b="1" dirty="0" smtClean="0">
                <a:solidFill>
                  <a:srgbClr val="FF0000"/>
                </a:solidFill>
              </a:rPr>
              <a:t>¿PARA QUÉ SIRVE ESTO?</a:t>
            </a:r>
            <a:endParaRPr lang="es-CL" b="1" dirty="0">
              <a:solidFill>
                <a:srgbClr val="FF000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" y="956383"/>
            <a:ext cx="8671164" cy="3624350"/>
          </a:xfrm>
          <a:prstGeom prst="rect">
            <a:avLst/>
          </a:prstGeom>
        </p:spPr>
      </p:pic>
      <p:cxnSp>
        <p:nvCxnSpPr>
          <p:cNvPr id="6" name="Conector angular 5"/>
          <p:cNvCxnSpPr/>
          <p:nvPr/>
        </p:nvCxnSpPr>
        <p:spPr>
          <a:xfrm>
            <a:off x="3455239" y="665229"/>
            <a:ext cx="4594479" cy="471911"/>
          </a:xfrm>
          <a:prstGeom prst="bentConnector3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6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Diego Rivera M\Downloads\logo-plano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r="11826"/>
          <a:stretch/>
        </p:blipFill>
        <p:spPr bwMode="auto">
          <a:xfrm>
            <a:off x="435494" y="3092285"/>
            <a:ext cx="1145854" cy="107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4" y="156304"/>
            <a:ext cx="2466975" cy="26479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83838" y="1676953"/>
            <a:ext cx="4259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Analiza cuál tipo de ventas es más rentable </a:t>
            </a:r>
            <a:endParaRPr lang="es-CL" sz="1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516" y="1921100"/>
            <a:ext cx="358770" cy="35601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6938" y="3111092"/>
            <a:ext cx="553963" cy="54829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3923803" y="162216"/>
            <a:ext cx="252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solidFill>
                  <a:srgbClr val="FF0000"/>
                </a:solidFill>
              </a:rPr>
              <a:t>¿PARA QUÉ SIRVE ESTO?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3030286" y="3042789"/>
            <a:ext cx="22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Ranking de sus gastos</a:t>
            </a:r>
            <a:endParaRPr lang="es-CL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0402" y="3966225"/>
            <a:ext cx="709995" cy="67004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2596677" y="3927654"/>
            <a:ext cx="2000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Peso de cada Gasto</a:t>
            </a:r>
            <a:endParaRPr lang="es-CL" sz="16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82" y="5191430"/>
            <a:ext cx="635799" cy="627669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2596677" y="5505264"/>
            <a:ext cx="6473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Definir una política de precio, incluso aunque no suene tan bonito, </a:t>
            </a:r>
          </a:p>
          <a:p>
            <a:r>
              <a:rPr lang="es-CL" dirty="0" smtClean="0"/>
              <a:t>puede tener preciso flexibles sin que lo noten sus clientes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0613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Marcador de contenido"/>
          <p:cNvSpPr>
            <a:spLocks noGrp="1"/>
          </p:cNvSpPr>
          <p:nvPr>
            <p:ph idx="1"/>
          </p:nvPr>
        </p:nvSpPr>
        <p:spPr>
          <a:xfrm>
            <a:off x="428625" y="1500188"/>
            <a:ext cx="8229600" cy="4525962"/>
          </a:xfrm>
        </p:spPr>
        <p:txBody>
          <a:bodyPr/>
          <a:lstStyle/>
          <a:p>
            <a:pPr eaLnBrk="1" hangingPunct="1"/>
            <a:r>
              <a:rPr lang="es-ES" altLang="es-CL" b="1" dirty="0" smtClean="0"/>
              <a:t>No haga pedidos de inventario exagerados</a:t>
            </a:r>
          </a:p>
          <a:p>
            <a:pPr eaLnBrk="1" hangingPunct="1"/>
            <a:endParaRPr lang="es-ES" altLang="es-CL" b="1" dirty="0" smtClean="0"/>
          </a:p>
          <a:p>
            <a:pPr eaLnBrk="1" hangingPunct="1"/>
            <a:r>
              <a:rPr lang="es-ES" altLang="es-CL" b="1" dirty="0" smtClean="0"/>
              <a:t>Convierta inventario muerto a dinero. </a:t>
            </a:r>
          </a:p>
          <a:p>
            <a:pPr eaLnBrk="1" hangingPunct="1"/>
            <a:endParaRPr lang="es-ES" altLang="es-CL" b="1" dirty="0" smtClean="0"/>
          </a:p>
          <a:p>
            <a:pPr eaLnBrk="1" hangingPunct="1"/>
            <a:r>
              <a:rPr lang="es-ES" altLang="es-CL" b="1" dirty="0" smtClean="0"/>
              <a:t>Solicite crédito de sus Proveedores.</a:t>
            </a:r>
          </a:p>
          <a:p>
            <a:pPr eaLnBrk="1" hangingPunct="1">
              <a:buFont typeface="Wingdings 3" panose="05040102010807070707" pitchFamily="18" charset="2"/>
              <a:buNone/>
            </a:pPr>
            <a:endParaRPr lang="es-ES" altLang="es-CL" b="1" dirty="0" smtClean="0"/>
          </a:p>
          <a:p>
            <a:pPr eaLnBrk="1" hangingPunct="1"/>
            <a:r>
              <a:rPr lang="es-ES" altLang="es-CL" b="1" dirty="0" smtClean="0"/>
              <a:t>Limite la cantidad de crédito que le ofrece a sus clientes. 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77218"/>
          </a:xfrm>
        </p:spPr>
        <p:txBody>
          <a:bodyPr anchorCtr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ES" sz="3200" dirty="0" smtClean="0">
                <a:solidFill>
                  <a:schemeClr val="tx1"/>
                </a:solidFill>
              </a:rPr>
              <a:t>FIANLMENTE:</a:t>
            </a:r>
            <a:br>
              <a:rPr lang="es-ES" sz="3200" dirty="0" smtClean="0">
                <a:solidFill>
                  <a:schemeClr val="tx1"/>
                </a:solidFill>
              </a:rPr>
            </a:br>
            <a:r>
              <a:rPr lang="es-ES" sz="3200" dirty="0" smtClean="0">
                <a:solidFill>
                  <a:schemeClr val="tx1"/>
                </a:solidFill>
              </a:rPr>
              <a:t>Como incrementar su flujo de efectivo. </a:t>
            </a:r>
            <a:endParaRPr lang="es-ES" sz="3200" dirty="0">
              <a:solidFill>
                <a:schemeClr val="tx1"/>
              </a:solidFill>
            </a:endParaRPr>
          </a:p>
        </p:txBody>
      </p:sp>
      <p:pic>
        <p:nvPicPr>
          <p:cNvPr id="21508" name="Picture 6" descr="http://www.clasiperu.com/images/advertisements/2009/06/06/prestamos-de-dinero-en-efectivo_0d4c1262b1_2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714500"/>
            <a:ext cx="2667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5 Rectángulo"/>
          <p:cNvSpPr>
            <a:spLocks noChangeArrowheads="1"/>
          </p:cNvSpPr>
          <p:nvPr/>
        </p:nvSpPr>
        <p:spPr bwMode="auto">
          <a:xfrm rot="-5400000">
            <a:off x="7711281" y="2861470"/>
            <a:ext cx="21431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altLang="es-CL" sz="600"/>
              <a:t>http://www.clasiperu.com/images/advertisements/2009/06/06/prestamos-de-dinero-en-efectivo_0d4c1262b1_2.jpg</a:t>
            </a:r>
          </a:p>
        </p:txBody>
      </p:sp>
    </p:spTree>
    <p:extLst>
      <p:ext uri="{BB962C8B-B14F-4D97-AF65-F5344CB8AC3E}">
        <p14:creationId xmlns:p14="http://schemas.microsoft.com/office/powerpoint/2010/main" val="645336942"/>
      </p:ext>
    </p:extLst>
  </p:cSld>
  <p:clrMapOvr>
    <a:masterClrMapping/>
  </p:clrMapOvr>
  <p:transition>
    <p:push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722783" y="2358887"/>
            <a:ext cx="5552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000" b="1" i="1" dirty="0" smtClean="0">
                <a:solidFill>
                  <a:schemeClr val="tx2"/>
                </a:solidFill>
              </a:rPr>
              <a:t>Muchas gracias </a:t>
            </a:r>
            <a:endParaRPr lang="es-CL" sz="4000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44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14461</TotalTime>
  <Words>1353</Words>
  <Application>Microsoft Office PowerPoint</Application>
  <PresentationFormat>Presentación en pantalla (4:3)</PresentationFormat>
  <Paragraphs>127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4" baseType="lpstr">
      <vt:lpstr>Arial Unicode MS</vt:lpstr>
      <vt:lpstr>arial</vt:lpstr>
      <vt:lpstr>arial</vt:lpstr>
      <vt:lpstr>Calibri</vt:lpstr>
      <vt:lpstr>Calibri Light</vt:lpstr>
      <vt:lpstr>Cambria</vt:lpstr>
      <vt:lpstr>Myriad Pro</vt:lpstr>
      <vt:lpstr>Verdana</vt:lpstr>
      <vt:lpstr>Wingdings 3</vt:lpstr>
      <vt:lpstr>Tema de Office</vt:lpstr>
      <vt:lpstr>Presentación de PowerPoint</vt:lpstr>
      <vt:lpstr>Presentación de PowerPoint</vt:lpstr>
      <vt:lpstr>QUE OPINA LOS CLIENTES DE ESTE FENOMENO AL ALZA</vt:lpstr>
      <vt:lpstr>EL PUBLICO ESTA CAUTIVO</vt:lpstr>
      <vt:lpstr>LAS BUENAS NOTICIAS: El estudio de la Usach también lo confirma. Grandes empresas empiezan a invertir en los almacenes, ayudando a incorporar servicios como tarjetas de débito y lanzando productos en formatos pequeños y, a diferencia del supermercado, ofreciendo ventas por unidades.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 LA PIZARRA HAREMOS UN FLUJO DE CAJA: COMENZEMOS CON EL SALDO INICIAL</vt:lpstr>
      <vt:lpstr>SIGAMOS CON LOS INGRESOS</vt:lpstr>
      <vt:lpstr>VEAMOS AHORA LOS EGRESOS COMPRAS</vt:lpstr>
      <vt:lpstr>VEAMOS AHORA LOS EGRESOS SALARIOS E IMPOSICIONES</vt:lpstr>
      <vt:lpstr>VEAMOS AHORA LOS EGRESOS Gastos básicos (Luz-agua-Gas)</vt:lpstr>
      <vt:lpstr>VEAMOS AHORA LA PATENTE COMERCIAL</vt:lpstr>
      <vt:lpstr>Presentación de PowerPoint</vt:lpstr>
      <vt:lpstr>FINALMENTE LOS EGRESOS</vt:lpstr>
      <vt:lpstr>SALDO FINAL</vt:lpstr>
      <vt:lpstr>Presentación de PowerPoint</vt:lpstr>
      <vt:lpstr>Presentación de PowerPoint</vt:lpstr>
      <vt:lpstr>Presentación de PowerPoint</vt:lpstr>
      <vt:lpstr>SALDO FINAL</vt:lpstr>
      <vt:lpstr>Presentación de PowerPoint</vt:lpstr>
      <vt:lpstr>FIANLMENTE: Como incrementar su flujo de efectivo. 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Olivari Alomar</dc:creator>
  <cp:lastModifiedBy>Raquel Araya Garrido</cp:lastModifiedBy>
  <cp:revision>280</cp:revision>
  <cp:lastPrinted>2017-11-24T11:27:33Z</cp:lastPrinted>
  <dcterms:created xsi:type="dcterms:W3CDTF">2016-04-29T15:15:41Z</dcterms:created>
  <dcterms:modified xsi:type="dcterms:W3CDTF">2018-07-13T17:45:08Z</dcterms:modified>
</cp:coreProperties>
</file>